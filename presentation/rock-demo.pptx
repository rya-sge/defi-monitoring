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9.xml.rels" ContentType="application/vnd.openxmlformats-package.relationships+xml"/>
  <Override PartName="/ppt/notesSlides/_rels/notesSlide6.xml.rels" ContentType="application/vnd.openxmlformats-package.relationships+xml"/>
  <Override PartName="/ppt/notesSlides/_rels/notesSlide8.xml.rels" ContentType="application/vnd.openxmlformats-package.relationships+xml"/>
  <Override PartName="/ppt/notesSlides/_rels/notesSlide2.xml.rels" ContentType="application/vnd.openxmlformats-package.relationships+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12.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US" sz="4400" spc="-1" strike="noStrike">
                <a:latin typeface="Arial"/>
              </a:rPr>
              <a:t>Click to move the slide</a:t>
            </a:r>
            <a:endParaRPr b="0" lang="en-US" sz="4400" spc="-1" strike="noStrike">
              <a:latin typeface="Arial"/>
            </a:endParaRPr>
          </a:p>
        </p:txBody>
      </p:sp>
      <p:sp>
        <p:nvSpPr>
          <p:cNvPr id="42"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notes format</a:t>
            </a:r>
            <a:endParaRPr b="0" lang="en-US" sz="2000" spc="-1" strike="noStrike">
              <a:latin typeface="Arial"/>
            </a:endParaRPr>
          </a:p>
        </p:txBody>
      </p:sp>
      <p:sp>
        <p:nvSpPr>
          <p:cNvPr id="43"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44" name="PlaceHolder 4"/>
          <p:cNvSpPr>
            <a:spLocks noGrp="1"/>
          </p:cNvSpPr>
          <p:nvPr>
            <p:ph type="dt" idx="4"/>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45" name="PlaceHolder 5"/>
          <p:cNvSpPr>
            <a:spLocks noGrp="1"/>
          </p:cNvSpPr>
          <p:nvPr>
            <p:ph type="ftr" idx="5"/>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46" name="PlaceHolder 6"/>
          <p:cNvSpPr>
            <a:spLocks noGrp="1"/>
          </p:cNvSpPr>
          <p:nvPr>
            <p:ph type="sldNum" idx="6"/>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F71B1821-B5B7-4945-BDC7-44BBF98C79A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type="sldImg"/>
          </p:nvPr>
        </p:nvSpPr>
        <p:spPr>
          <a:xfrm>
            <a:off x="216000" y="812520"/>
            <a:ext cx="7127280" cy="4008960"/>
          </a:xfrm>
          <a:prstGeom prst="rect">
            <a:avLst/>
          </a:prstGeom>
          <a:ln w="0">
            <a:noFill/>
          </a:ln>
        </p:spPr>
      </p:sp>
      <p:sp>
        <p:nvSpPr>
          <p:cNvPr id="7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Demo: scripts/demo-rock/demo-rock.sh (README next to it). Vaults and dependencies: docs/analysis/ROCK-VAULT.md. Run of scripts/demo-rock/demo-rock.sh on a fork at block 26,165,572, 2026-10-11; alerts from out/demo-rock/watch-*.jsonl.</a:t>
            </a:r>
            <a:endParaRPr b="0" lang="en-US" sz="20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sldImg"/>
          </p:nvPr>
        </p:nvSpPr>
        <p:spPr>
          <a:xfrm>
            <a:off x="216000" y="812520"/>
            <a:ext cx="7127280" cy="4008960"/>
          </a:xfrm>
          <a:prstGeom prst="rect">
            <a:avLst/>
          </a:prstGeom>
          <a:ln w="0">
            <a:noFill/>
          </a:ln>
        </p:spPr>
      </p:sp>
      <p:sp>
        <p:nvSpPr>
          <p:cNvPr id="7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The challenge brief (Belem Capital): 'the hard part is not noticing the incident. It is working out what it does to your book, and how fast.' The demo starts from known incidents and shows their impact and the decision.</a:t>
            </a:r>
            <a:endParaRPr b="0" lang="en-US" sz="20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sldImg"/>
          </p:nvPr>
        </p:nvSpPr>
        <p:spPr>
          <a:xfrm>
            <a:off x="216000" y="812520"/>
            <a:ext cx="7127280" cy="4008960"/>
          </a:xfrm>
          <a:prstGeom prst="rect">
            <a:avLst/>
          </a:prstGeom>
          <a:ln w="0">
            <a:noFill/>
          </a:ln>
        </p:spPr>
      </p:sp>
      <p:sp>
        <p:nvSpPr>
          <p:cNvPr id="8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Tori Ecosystem: 13.6M USDC, 69 % of it lent against strUSD (ROCK-VAULT.md, demo prediction). The 2-of-3 Safe owns RedStone's ProxyAdmin (scripts/fork/addresses.env, alt-redstone.sh).</a:t>
            </a:r>
            <a:endParaRPr b="0" lang="en-US" sz="20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sldImg"/>
          </p:nvPr>
        </p:nvSpPr>
        <p:spPr>
          <a:xfrm>
            <a:off x="216000" y="812520"/>
            <a:ext cx="7127280" cy="4008960"/>
          </a:xfrm>
          <a:prstGeom prst="rect">
            <a:avLst/>
          </a:prstGeom>
          <a:ln w="0">
            <a:noFill/>
          </a:ln>
        </p:spPr>
      </p:sp>
      <p:sp>
        <p:nvSpPr>
          <p:cNvPr id="8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Fork at block 26,165,572 (anvil). Two watches: RockawayX Tori Ecosystem and Huma USDC Main. notify posts alerts at warn and above; start-up findings stay in the terminal.</a:t>
            </a:r>
            <a:endParaRPr b="0" lang="en-US" sz="20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sldImg"/>
          </p:nvPr>
        </p:nvSpPr>
        <p:spPr>
          <a:xfrm>
            <a:off x="216000" y="812520"/>
            <a:ext cx="7127280" cy="4008960"/>
          </a:xfrm>
          <a:prstGeom prst="rect">
            <a:avLst/>
          </a:prstGeom>
          <a:ln w="0">
            <a:noFill/>
          </a:ln>
        </p:spPr>
      </p:sp>
      <p:sp>
        <p:nvSpPr>
          <p:cNvPr id="8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Levels: docs/reference/alert-runbook.md (critical: money is being lost now, or can be lost in the next block; warn: the risk changed, a decision may be needed).</a:t>
            </a:r>
            <a:endParaRPr b="0" lang="en-US" sz="20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sldImg"/>
          </p:nvPr>
        </p:nvSpPr>
        <p:spPr>
          <a:xfrm>
            <a:off x="216000" y="812520"/>
            <a:ext cx="7127280" cy="4008960"/>
          </a:xfrm>
          <a:prstGeom prst="rect">
            <a:avLst/>
          </a:prstGeom>
          <a:ln w="0">
            <a:noFill/>
          </a:ln>
        </p:spPr>
      </p:sp>
      <p:sp>
        <p:nvSpPr>
          <p:cNvPr id="8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alt-redstone.sh: oracle 1.0300 → 0.7001. UnrealisedBadDebt: 1,902,392 USDC, the vault's share 1,236,933 (9.09 % of the vault).</a:t>
            </a:r>
            <a:endParaRPr b="0" lang="en-US" sz="20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sldImg"/>
          </p:nvPr>
        </p:nvSpPr>
        <p:spPr>
          <a:xfrm>
            <a:off x="216000" y="812520"/>
            <a:ext cx="7127280" cy="4008960"/>
          </a:xfrm>
          <a:prstGeom prst="rect">
            <a:avLst/>
          </a:prstGeom>
          <a:ln w="0">
            <a:noFill/>
          </a:ln>
        </p:spPr>
      </p:sp>
      <p:sp>
        <p:nvSpPr>
          <p:cNvPr id="8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All six at block 26,165,574, the block after the upgrade. On Telegram: one message, the cause first, the loss and the EXIT decision on top, the six alerts folded underneath.</a:t>
            </a:r>
            <a:endParaRPr b="0" lang="en-US" sz="20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sldImg"/>
          </p:nvPr>
        </p:nvSpPr>
        <p:spPr>
          <a:xfrm>
            <a:off x="216000" y="812520"/>
            <a:ext cx="7127280" cy="4008960"/>
          </a:xfrm>
          <a:prstGeom prst="rect">
            <a:avLst/>
          </a:prstGeom>
          <a:ln w="0">
            <a:noFill/>
          </a:ln>
        </p:spPr>
      </p:sp>
      <p:sp>
        <p:nvSpPr>
          <p:cNvPr id="9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Depositor followed: the vault's largest, 0xddcd…cdd1, 4,994,682 USDC (36.7 %). Figures from the OracleImpact alert. Leaving first moves part of the loss onto those who stay: that is why speed matters.</a:t>
            </a:r>
            <a:endParaRPr b="0" lang="en-US" sz="20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sldImg"/>
          </p:nvPr>
        </p:nvSpPr>
        <p:spPr>
          <a:xfrm>
            <a:off x="216000" y="812520"/>
            <a:ext cx="7127280" cy="4008960"/>
          </a:xfrm>
          <a:prstGeom prst="rect">
            <a:avLst/>
          </a:prstGeom>
          <a:ln w="0">
            <a:noFill/>
          </a:ln>
        </p:spPr>
      </p:sp>
      <p:sp>
        <p:nvSpPr>
          <p:cNvPr id="9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In the demo nothing is hacked: the fork is local. On-chain the three cases look identical; riskdep flags any upgrade, and the runbook says to check whether the new code is verified and announced, and to de-lever or exit until it is explained.</a:t>
            </a:r>
            <a:endParaRPr b="0" lang="en-US" sz="20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sldImg"/>
          </p:nvPr>
        </p:nvSpPr>
        <p:spPr>
          <a:xfrm>
            <a:off x="216000" y="812520"/>
            <a:ext cx="7127280" cy="4008960"/>
          </a:xfrm>
          <a:prstGeom prst="rect">
            <a:avLst/>
          </a:prstGeom>
          <a:ln w="0">
            <a:noFill/>
          </a:ln>
        </p:spPr>
      </p:sp>
      <p:sp>
        <p:nvSpPr>
          <p:cNvPr id="9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alt-pst-mint.sh 15000000: supply 213.9M → 228.9M PST. Admin.Mint is critical above 5 % of the supply in one transaction (watch.mint_share_critical); 10M (4.7 %) would stay silent.</a:t>
            </a:r>
            <a:endParaRPr b="0" lang="en-US" sz="20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sldImg"/>
          </p:nvPr>
        </p:nvSpPr>
        <p:spPr>
          <a:xfrm>
            <a:off x="216000" y="812520"/>
            <a:ext cx="7127280" cy="4008960"/>
          </a:xfrm>
          <a:prstGeom prst="rect">
            <a:avLst/>
          </a:prstGeom>
          <a:ln w="0">
            <a:noFill/>
          </a:ln>
        </p:spPr>
      </p:sp>
      <p:sp>
        <p:nvSpPr>
          <p:cNvPr id="9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riskdep notify: alerts at warn and above, one message per block, no heartbeat. On a fork the Etherscan button is left out: the transaction is local.</a:t>
            </a:r>
            <a:endParaRPr b="0" lang="en-US" sz="20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sldImg"/>
          </p:nvPr>
        </p:nvSpPr>
        <p:spPr>
          <a:xfrm>
            <a:off x="216000" y="812520"/>
            <a:ext cx="7127280" cy="4008960"/>
          </a:xfrm>
          <a:prstGeom prst="rect">
            <a:avLst/>
          </a:prstGeom>
          <a:ln w="0">
            <a:noFill/>
          </a:ln>
        </p:spPr>
      </p:sp>
      <p:sp>
        <p:nvSpPr>
          <p:cNvPr id="9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Run it: scripts/demo-rock/demo-rock.sh --manual (or PAUSE=10 for a slower pace; --no-telegram to rehearse).</a:t>
            </a:r>
            <a:endParaRPr b="0" lang="en-US" sz="20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4701EC51-981E-4C05-854C-6D82B495BB72}" type="slidenum">
              <a:t>&lt;#&gt;</a:t>
            </a:fld>
          </a:p>
        </p:txBody>
      </p:sp>
      <p:sp>
        <p:nvSpPr>
          <p:cNvPr id="4" name="PlaceHolder 3"/>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 name="PlaceHolder 2"/>
          <p:cNvSpPr>
            <a:spLocks noGrp="1"/>
          </p:cNvSpPr>
          <p:nvPr>
            <p:ph type="subTitle"/>
          </p:nvPr>
        </p:nvSpPr>
        <p:spPr>
          <a:xfrm>
            <a:off x="504000" y="1326600"/>
            <a:ext cx="9071640" cy="32882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35812123-0785-4B30-B918-8DF7375D51EB}"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8838DA58-1DFB-44A1-B196-6A174D4A965C}"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 name="PlaceHolder 2"/>
          <p:cNvSpPr>
            <a:spLocks noGrp="1"/>
          </p:cNvSpPr>
          <p:nvPr>
            <p:ph/>
          </p:nvPr>
        </p:nvSpPr>
        <p:spPr>
          <a:xfrm>
            <a:off x="504000" y="1326600"/>
            <a:ext cx="4426920" cy="3288240"/>
          </a:xfrm>
          <a:prstGeom prst="rect">
            <a:avLst/>
          </a:prstGeom>
          <a:noFill/>
          <a:ln w="0">
            <a:noFill/>
          </a:ln>
        </p:spPr>
        <p:txBody>
          <a:bodyPr lIns="0" rIns="0" tIns="0" bIns="0" anchor="t">
            <a:normAutofit/>
          </a:bodyPr>
          <a:p>
            <a:endParaRPr b="0" lang="en-US" sz="3200" spc="-1" strike="noStrike">
              <a:latin typeface="Arial"/>
            </a:endParaRPr>
          </a:p>
        </p:txBody>
      </p:sp>
      <p:sp>
        <p:nvSpPr>
          <p:cNvPr id="11" name="PlaceHolder 3"/>
          <p:cNvSpPr>
            <a:spLocks noGrp="1"/>
          </p:cNvSpPr>
          <p:nvPr>
            <p:ph/>
          </p:nvPr>
        </p:nvSpPr>
        <p:spPr>
          <a:xfrm>
            <a:off x="5152680" y="1326600"/>
            <a:ext cx="4426920" cy="328824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F34CBE88-2619-4022-9685-3F6D40065E33}"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5AEDC482-B023-4809-A27E-2292170E3E94}"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504000" y="226080"/>
            <a:ext cx="9071640" cy="43884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255C12DB-F3D9-4177-A93F-0229DD4779EF}"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5" name="PlaceHolder 2"/>
          <p:cNvSpPr>
            <a:spLocks noGrp="1"/>
          </p:cNvSpPr>
          <p:nvPr>
            <p:ph/>
          </p:nvPr>
        </p:nvSpPr>
        <p:spPr>
          <a:xfrm>
            <a:off x="504000" y="132660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16" name="PlaceHolder 3"/>
          <p:cNvSpPr>
            <a:spLocks noGrp="1"/>
          </p:cNvSpPr>
          <p:nvPr>
            <p:ph/>
          </p:nvPr>
        </p:nvSpPr>
        <p:spPr>
          <a:xfrm>
            <a:off x="5152680" y="1326600"/>
            <a:ext cx="4426920" cy="3288240"/>
          </a:xfrm>
          <a:prstGeom prst="rect">
            <a:avLst/>
          </a:prstGeom>
          <a:noFill/>
          <a:ln w="0">
            <a:noFill/>
          </a:ln>
        </p:spPr>
        <p:txBody>
          <a:bodyPr lIns="0" rIns="0" tIns="0" bIns="0" anchor="t">
            <a:normAutofit/>
          </a:bodyPr>
          <a:p>
            <a:endParaRPr b="0" lang="en-US" sz="3200" spc="-1" strike="noStrike">
              <a:latin typeface="Arial"/>
            </a:endParaRPr>
          </a:p>
        </p:txBody>
      </p:sp>
      <p:sp>
        <p:nvSpPr>
          <p:cNvPr id="17" name="PlaceHolder 4"/>
          <p:cNvSpPr>
            <a:spLocks noGrp="1"/>
          </p:cNvSpPr>
          <p:nvPr>
            <p:ph/>
          </p:nvPr>
        </p:nvSpPr>
        <p:spPr>
          <a:xfrm>
            <a:off x="504000" y="304416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65AE4EE3-BBE4-44AC-AC6E-45000C71ADEF}"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9" name="PlaceHolder 2"/>
          <p:cNvSpPr>
            <a:spLocks noGrp="1"/>
          </p:cNvSpPr>
          <p:nvPr>
            <p:ph/>
          </p:nvPr>
        </p:nvSpPr>
        <p:spPr>
          <a:xfrm>
            <a:off x="504000" y="1326600"/>
            <a:ext cx="4426920" cy="328824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3"/>
          <p:cNvSpPr>
            <a:spLocks noGrp="1"/>
          </p:cNvSpPr>
          <p:nvPr>
            <p:ph/>
          </p:nvPr>
        </p:nvSpPr>
        <p:spPr>
          <a:xfrm>
            <a:off x="5152680" y="132660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21" name="PlaceHolder 4"/>
          <p:cNvSpPr>
            <a:spLocks noGrp="1"/>
          </p:cNvSpPr>
          <p:nvPr>
            <p:ph/>
          </p:nvPr>
        </p:nvSpPr>
        <p:spPr>
          <a:xfrm>
            <a:off x="5152680" y="304416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C5A30F59-BEEA-4666-A3F8-6CB0034D58E5}"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3" name="PlaceHolder 2"/>
          <p:cNvSpPr>
            <a:spLocks noGrp="1"/>
          </p:cNvSpPr>
          <p:nvPr>
            <p:ph/>
          </p:nvPr>
        </p:nvSpPr>
        <p:spPr>
          <a:xfrm>
            <a:off x="504000" y="132660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3"/>
          <p:cNvSpPr>
            <a:spLocks noGrp="1"/>
          </p:cNvSpPr>
          <p:nvPr>
            <p:ph/>
          </p:nvPr>
        </p:nvSpPr>
        <p:spPr>
          <a:xfrm>
            <a:off x="5152680" y="132660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25" name="PlaceHolder 4"/>
          <p:cNvSpPr>
            <a:spLocks noGrp="1"/>
          </p:cNvSpPr>
          <p:nvPr>
            <p:ph/>
          </p:nvPr>
        </p:nvSpPr>
        <p:spPr>
          <a:xfrm>
            <a:off x="504000" y="3044160"/>
            <a:ext cx="9071640" cy="156816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37888DA4-BB27-4E10-B4AC-F37D38C3D4FA}"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7" name="PlaceHolder 2"/>
          <p:cNvSpPr>
            <a:spLocks noGrp="1"/>
          </p:cNvSpPr>
          <p:nvPr>
            <p:ph/>
          </p:nvPr>
        </p:nvSpPr>
        <p:spPr>
          <a:xfrm>
            <a:off x="504000" y="1326600"/>
            <a:ext cx="9071640" cy="156816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3"/>
          <p:cNvSpPr>
            <a:spLocks noGrp="1"/>
          </p:cNvSpPr>
          <p:nvPr>
            <p:ph/>
          </p:nvPr>
        </p:nvSpPr>
        <p:spPr>
          <a:xfrm>
            <a:off x="504000" y="3044160"/>
            <a:ext cx="9071640" cy="156816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32C6F4B8-5217-4BBE-A875-78A48C286BB4}"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504000" y="132660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5152680" y="132660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32" name="PlaceHolder 4"/>
          <p:cNvSpPr>
            <a:spLocks noGrp="1"/>
          </p:cNvSpPr>
          <p:nvPr>
            <p:ph/>
          </p:nvPr>
        </p:nvSpPr>
        <p:spPr>
          <a:xfrm>
            <a:off x="504000" y="304416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33" name="PlaceHolder 5"/>
          <p:cNvSpPr>
            <a:spLocks noGrp="1"/>
          </p:cNvSpPr>
          <p:nvPr>
            <p:ph/>
          </p:nvPr>
        </p:nvSpPr>
        <p:spPr>
          <a:xfrm>
            <a:off x="5152680" y="3044160"/>
            <a:ext cx="4426920" cy="156816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5E32E043-D94E-4E92-B596-ACFB5D0D6802}" type="slidenum">
              <a:t>&lt;#&gt;</a:t>
            </a:fld>
          </a:p>
        </p:txBody>
      </p:sp>
      <p:sp>
        <p:nvSpPr>
          <p:cNvPr id="9" name="PlaceHolder 8"/>
          <p:cNvSpPr>
            <a:spLocks noGrp="1"/>
          </p:cNvSpPr>
          <p:nvPr>
            <p:ph type="dt" idx="1"/>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5" name="PlaceHolder 2"/>
          <p:cNvSpPr>
            <a:spLocks noGrp="1"/>
          </p:cNvSpPr>
          <p:nvPr>
            <p:ph/>
          </p:nvPr>
        </p:nvSpPr>
        <p:spPr>
          <a:xfrm>
            <a:off x="504000" y="1326600"/>
            <a:ext cx="2920680" cy="156816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3"/>
          <p:cNvSpPr>
            <a:spLocks noGrp="1"/>
          </p:cNvSpPr>
          <p:nvPr>
            <p:ph/>
          </p:nvPr>
        </p:nvSpPr>
        <p:spPr>
          <a:xfrm>
            <a:off x="3571200" y="1326600"/>
            <a:ext cx="2920680" cy="1568160"/>
          </a:xfrm>
          <a:prstGeom prst="rect">
            <a:avLst/>
          </a:prstGeom>
          <a:noFill/>
          <a:ln w="0">
            <a:noFill/>
          </a:ln>
        </p:spPr>
        <p:txBody>
          <a:bodyPr lIns="0" rIns="0" tIns="0" bIns="0" anchor="t">
            <a:normAutofit/>
          </a:bodyPr>
          <a:p>
            <a:endParaRPr b="0" lang="en-US" sz="3200" spc="-1" strike="noStrike">
              <a:latin typeface="Arial"/>
            </a:endParaRPr>
          </a:p>
        </p:txBody>
      </p:sp>
      <p:sp>
        <p:nvSpPr>
          <p:cNvPr id="37" name="PlaceHolder 4"/>
          <p:cNvSpPr>
            <a:spLocks noGrp="1"/>
          </p:cNvSpPr>
          <p:nvPr>
            <p:ph/>
          </p:nvPr>
        </p:nvSpPr>
        <p:spPr>
          <a:xfrm>
            <a:off x="6638040" y="1326600"/>
            <a:ext cx="2920680" cy="1568160"/>
          </a:xfrm>
          <a:prstGeom prst="rect">
            <a:avLst/>
          </a:prstGeom>
          <a:noFill/>
          <a:ln w="0">
            <a:noFill/>
          </a:ln>
        </p:spPr>
        <p:txBody>
          <a:bodyPr lIns="0" rIns="0" tIns="0" bIns="0" anchor="t">
            <a:normAutofit/>
          </a:bodyPr>
          <a:p>
            <a:endParaRPr b="0" lang="en-US" sz="3200" spc="-1" strike="noStrike">
              <a:latin typeface="Arial"/>
            </a:endParaRPr>
          </a:p>
        </p:txBody>
      </p:sp>
      <p:sp>
        <p:nvSpPr>
          <p:cNvPr id="38" name="PlaceHolder 5"/>
          <p:cNvSpPr>
            <a:spLocks noGrp="1"/>
          </p:cNvSpPr>
          <p:nvPr>
            <p:ph/>
          </p:nvPr>
        </p:nvSpPr>
        <p:spPr>
          <a:xfrm>
            <a:off x="504000" y="3044160"/>
            <a:ext cx="2920680" cy="156816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6"/>
          <p:cNvSpPr>
            <a:spLocks noGrp="1"/>
          </p:cNvSpPr>
          <p:nvPr>
            <p:ph/>
          </p:nvPr>
        </p:nvSpPr>
        <p:spPr>
          <a:xfrm>
            <a:off x="3571200" y="3044160"/>
            <a:ext cx="2920680" cy="156816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7"/>
          <p:cNvSpPr>
            <a:spLocks noGrp="1"/>
          </p:cNvSpPr>
          <p:nvPr>
            <p:ph/>
          </p:nvPr>
        </p:nvSpPr>
        <p:spPr>
          <a:xfrm>
            <a:off x="6638040" y="3044160"/>
            <a:ext cx="2920680" cy="156816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F4CF8A5E-08D3-4B06-A25E-4C07AC8C084B}" type="slidenum">
              <a:t>&lt;#&gt;</a:t>
            </a:fld>
          </a:p>
        </p:txBody>
      </p:sp>
      <p:sp>
        <p:nvSpPr>
          <p:cNvPr id="11" name="PlaceHolder 10"/>
          <p:cNvSpPr>
            <a:spLocks noGrp="1"/>
          </p:cNvSpPr>
          <p:nvPr>
            <p:ph type="dt" idx="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9fc"/>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504000" y="1326600"/>
            <a:ext cx="9071640" cy="3288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
        <p:nvSpPr>
          <p:cNvPr id="2" name="PlaceHolder 3"/>
          <p:cNvSpPr>
            <a:spLocks noGrp="1"/>
          </p:cNvSpPr>
          <p:nvPr>
            <p:ph type="dt" idx="1"/>
          </p:nvPr>
        </p:nvSpPr>
        <p:spPr>
          <a:xfrm>
            <a:off x="504000" y="5165280"/>
            <a:ext cx="2348280" cy="390600"/>
          </a:xfrm>
          <a:prstGeom prst="rect">
            <a:avLst/>
          </a:prstGeom>
          <a:noFill/>
          <a:ln w="0">
            <a:noFill/>
          </a:ln>
        </p:spPr>
        <p:txBody>
          <a:bodyPr lIns="0" rIns="0" tIns="0" bIns="0" anchor="t">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3" name="PlaceHolder 4"/>
          <p:cNvSpPr>
            <a:spLocks noGrp="1"/>
          </p:cNvSpPr>
          <p:nvPr>
            <p:ph type="ftr" idx="2"/>
          </p:nvPr>
        </p:nvSpPr>
        <p:spPr>
          <a:xfrm>
            <a:off x="3447360" y="5165280"/>
            <a:ext cx="3195000" cy="390600"/>
          </a:xfrm>
          <a:prstGeom prst="rect">
            <a:avLst/>
          </a:prstGeom>
          <a:noFill/>
          <a:ln w="0">
            <a:noFill/>
          </a:ln>
        </p:spPr>
        <p:txBody>
          <a:bodyPr lIns="0" rIns="0" tIns="0" bIns="0" anchor="t">
            <a:noAutofit/>
          </a:bodyPr>
          <a:lstStyle>
            <a:lvl1pPr algn="ctr">
              <a:buNone/>
              <a:defRPr b="0" lang="en-US" sz="1400" spc="-1" strike="noStrike">
                <a:latin typeface="Times New Roman"/>
              </a:defRPr>
            </a:lvl1pPr>
          </a:lstStyle>
          <a:p>
            <a:pPr algn="ctr">
              <a:buNone/>
            </a:pPr>
            <a:r>
              <a:rPr b="0" lang="en-US" sz="1400" spc="-1" strike="noStrike">
                <a:latin typeface="Times New Roman"/>
              </a:rPr>
              <a:t>&lt;footer&gt;</a:t>
            </a:r>
            <a:endParaRPr b="0" lang="en-US" sz="1400" spc="-1" strike="noStrike">
              <a:latin typeface="Times New Roman"/>
            </a:endParaRPr>
          </a:p>
        </p:txBody>
      </p:sp>
      <p:sp>
        <p:nvSpPr>
          <p:cNvPr id="4" name="PlaceHolder 5"/>
          <p:cNvSpPr>
            <a:spLocks noGrp="1"/>
          </p:cNvSpPr>
          <p:nvPr>
            <p:ph type="sldNum" idx="3"/>
          </p:nvPr>
        </p:nvSpPr>
        <p:spPr>
          <a:xfrm>
            <a:off x="7227360" y="5165280"/>
            <a:ext cx="2348280" cy="39060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fld id="{5937098E-3F9E-4F08-9649-B298129C30CD}"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5.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5.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5.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RockawayX vaults under attack</a:t>
            </a:r>
            <a:endParaRPr b="0" lang="en-US" sz="4400" spc="-1" strike="noStrike">
              <a:latin typeface="Arial"/>
            </a:endParaRPr>
          </a:p>
        </p:txBody>
      </p:sp>
      <p:sp>
        <p:nvSpPr>
          <p:cNvPr id="48" name="PlaceHolder 2"/>
          <p:cNvSpPr>
            <a:spLocks noGrp="1"/>
          </p:cNvSpPr>
          <p:nvPr>
            <p:ph type="subTitle"/>
          </p:nvPr>
        </p:nvSpPr>
        <p:spPr>
          <a:xfrm>
            <a:off x="504000" y="1326600"/>
            <a:ext cx="9071640" cy="3288240"/>
          </a:xfrm>
          <a:prstGeom prst="rect">
            <a:avLst/>
          </a:prstGeom>
          <a:noFill/>
          <a:ln w="0">
            <a:noFill/>
          </a:ln>
        </p:spPr>
        <p:txBody>
          <a:bodyPr lIns="0" rIns="0" tIns="0" bIns="0" anchor="ctr">
            <a:noAutofit/>
          </a:bodyPr>
          <a:p>
            <a:pPr algn="ctr">
              <a:buNone/>
            </a:pPr>
            <a:r>
              <a:rPr b="0" lang="en-US" sz="3200" spc="-1" strike="noStrike">
                <a:solidFill>
                  <a:srgbClr val="222222"/>
                </a:solidFill>
                <a:latin typeface="Arial"/>
              </a:rPr>
              <a:t>riskdep on a mainnet fork, step by step · alerts on Telegram</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The question we answer</a:t>
            </a:r>
            <a:endParaRPr b="0" lang="en-US" sz="4400" spc="-1" strike="noStrike">
              <a:latin typeface="Arial"/>
            </a:endParaRPr>
          </a:p>
        </p:txBody>
      </p:sp>
      <p:sp>
        <p:nvSpPr>
          <p:cNvPr id="50" name="PlaceHolder 2"/>
          <p:cNvSpPr>
            <a:spLocks noGrp="1"/>
          </p:cNvSpPr>
          <p:nvPr>
            <p:ph/>
          </p:nvPr>
        </p:nvSpPr>
        <p:spPr>
          <a:xfrm>
            <a:off x="504000" y="1326600"/>
            <a:ext cx="9071640" cy="3288240"/>
          </a:xfrm>
          <a:prstGeom prst="rect">
            <a:avLst/>
          </a:prstGeom>
          <a:noFill/>
          <a:ln w="0">
            <a:noFill/>
          </a:ln>
        </p:spPr>
        <p:txBody>
          <a:bodyPr lIns="0" rIns="0" tIns="0" bIns="0" anchor="t">
            <a:normAutofit fontScale="83000"/>
          </a:bodyPr>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One deposit hides a chain of other contracts and people</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When one link breaks: what does it do to my position, and how fast?</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Leaving costs something for sure; staying may cost more</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riskdep finds the chain, watches it, and says stay or exit</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What a deposit really depends on</a:t>
            </a:r>
            <a:endParaRPr b="0" lang="en-US" sz="4400" spc="-1" strike="noStrike">
              <a:latin typeface="Arial"/>
            </a:endParaRPr>
          </a:p>
        </p:txBody>
      </p:sp>
      <p:pic>
        <p:nvPicPr>
          <p:cNvPr id="52" name="Image2" descr="dependencies"/>
          <p:cNvPicPr/>
          <p:nvPr/>
        </p:nvPicPr>
        <p:blipFill>
          <a:blip r:embed="rId1"/>
          <a:stretch/>
        </p:blipFill>
        <p:spPr>
          <a:xfrm>
            <a:off x="540000" y="1224000"/>
            <a:ext cx="9000000" cy="1882800"/>
          </a:xfrm>
          <a:prstGeom prst="rect">
            <a:avLst/>
          </a:prstGeom>
          <a:ln w="0">
            <a:noFill/>
          </a:ln>
        </p:spPr>
      </p:pic>
      <p:sp>
        <p:nvSpPr>
          <p:cNvPr id="53" name="Caption2"/>
          <p:cNvSpPr txBox="1"/>
          <p:nvPr/>
        </p:nvSpPr>
        <p:spPr>
          <a:xfrm>
            <a:off x="576000" y="3214800"/>
            <a:ext cx="9000000" cy="2329200"/>
          </a:xfrm>
          <a:prstGeom prst="rect">
            <a:avLst/>
          </a:prstGeom>
          <a:noFill/>
          <a:ln w="0">
            <a:noFill/>
          </a:ln>
        </p:spPr>
        <p:txBody>
          <a:bodyPr lIns="90000" rIns="90000" tIns="45000" bIns="45000" anchor="t">
            <a:noAutofit/>
          </a:bodyPr>
          <a:p>
            <a:r>
              <a:rPr b="0" lang="en-US" sz="2200" spc="-1" strike="noStrike">
                <a:solidFill>
                  <a:srgbClr val="222222"/>
                </a:solidFill>
                <a:latin typeface="Arial"/>
              </a:rPr>
              <a:t>• </a:t>
            </a:r>
            <a:r>
              <a:rPr b="0" lang="en-US" sz="2200" spc="-1" strike="noStrike">
                <a:solidFill>
                  <a:srgbClr val="222222"/>
                </a:solidFill>
                <a:latin typeface="Arial"/>
              </a:rPr>
              <a:t>Your USDC goes into the vault, which lends it to borrowers who post strUSD</a:t>
            </a:r>
            <a:endParaRPr b="0" lang="en-US" sz="2200" spc="-1" strike="noStrike">
              <a:latin typeface="Arial"/>
            </a:endParaRPr>
          </a:p>
          <a:p>
            <a:r>
              <a:rPr b="0" lang="en-US" sz="2200" spc="-1" strike="noStrike">
                <a:solidFill>
                  <a:srgbClr val="222222"/>
                </a:solidFill>
                <a:latin typeface="Arial"/>
              </a:rPr>
              <a:t>• </a:t>
            </a:r>
            <a:r>
              <a:rPr b="0" lang="en-US" sz="2200" spc="-1" strike="noStrike">
                <a:solidFill>
                  <a:srgbClr val="222222"/>
                </a:solidFill>
                <a:latin typeface="Arial"/>
              </a:rPr>
              <a:t>Those loans are safe only while the oracle prices strUSD correctly</a:t>
            </a:r>
            <a:endParaRPr b="0" lang="en-US" sz="2200" spc="-1" strike="noStrike">
              <a:latin typeface="Arial"/>
            </a:endParaRPr>
          </a:p>
          <a:p>
            <a:r>
              <a:rPr b="0" lang="en-US" sz="2200" spc="-1" strike="noStrike">
                <a:solidFill>
                  <a:srgbClr val="222222"/>
                </a:solidFill>
                <a:latin typeface="Arial"/>
              </a:rPr>
              <a:t>• </a:t>
            </a:r>
            <a:r>
              <a:rPr b="0" lang="en-US" sz="2200" spc="-1" strike="noStrike">
                <a:solidFill>
                  <a:srgbClr val="222222"/>
                </a:solidFill>
                <a:latin typeface="Arial"/>
              </a:rPr>
              <a:t>The oracle reads a RedStone feed whose code can be replaced</a:t>
            </a:r>
            <a:endParaRPr b="0" lang="en-US" sz="2200" spc="-1" strike="noStrike">
              <a:latin typeface="Arial"/>
            </a:endParaRPr>
          </a:p>
          <a:p>
            <a:r>
              <a:rPr b="0" lang="en-US" sz="2200" spc="-1" strike="noStrike">
                <a:solidFill>
                  <a:srgbClr val="222222"/>
                </a:solidFill>
                <a:latin typeface="Arial"/>
              </a:rPr>
              <a:t>• </a:t>
            </a:r>
            <a:r>
              <a:rPr b="0" lang="en-US" sz="2200" spc="-1" strike="noStrike">
                <a:solidFill>
                  <a:srgbClr val="222222"/>
                </a:solidFill>
                <a:latin typeface="Arial"/>
              </a:rPr>
              <a:t>Two signatures out of three are enough to do it, with no delay</a:t>
            </a:r>
            <a:endParaRPr b="0" lang="en-US" sz="2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How the demo works</a:t>
            </a:r>
            <a:endParaRPr b="0" lang="en-US" sz="4400" spc="-1" strike="noStrike">
              <a:latin typeface="Arial"/>
            </a:endParaRPr>
          </a:p>
        </p:txBody>
      </p:sp>
      <p:pic>
        <p:nvPicPr>
          <p:cNvPr id="55" name="Image3" descr="setup"/>
          <p:cNvPicPr/>
          <p:nvPr/>
        </p:nvPicPr>
        <p:blipFill>
          <a:blip r:embed="rId1"/>
          <a:stretch/>
        </p:blipFill>
        <p:spPr>
          <a:xfrm>
            <a:off x="1710000" y="1224000"/>
            <a:ext cx="6660000" cy="2696400"/>
          </a:xfrm>
          <a:prstGeom prst="rect">
            <a:avLst/>
          </a:prstGeom>
          <a:ln w="0">
            <a:noFill/>
          </a:ln>
        </p:spPr>
      </p:pic>
      <p:sp>
        <p:nvSpPr>
          <p:cNvPr id="56" name="Caption3"/>
          <p:cNvSpPr txBox="1"/>
          <p:nvPr/>
        </p:nvSpPr>
        <p:spPr>
          <a:xfrm>
            <a:off x="576000" y="4028400"/>
            <a:ext cx="9000000" cy="1515600"/>
          </a:xfrm>
          <a:prstGeom prst="rect">
            <a:avLst/>
          </a:prstGeom>
          <a:noFill/>
          <a:ln w="0">
            <a:noFill/>
          </a:ln>
        </p:spPr>
        <p:txBody>
          <a:bodyPr lIns="90000" rIns="90000" tIns="45000" bIns="45000" anchor="t">
            <a:noAutofit/>
          </a:bodyPr>
          <a:p>
            <a:r>
              <a:rPr b="0" lang="en-US" sz="1900" spc="-1" strike="noStrike">
                <a:solidFill>
                  <a:srgbClr val="222222"/>
                </a:solidFill>
                <a:latin typeface="Arial"/>
              </a:rPr>
              <a:t>• </a:t>
            </a:r>
            <a:r>
              <a:rPr b="0" lang="en-US" sz="1900" spc="-1" strike="noStrike">
                <a:solidFill>
                  <a:srgbClr val="222222"/>
                </a:solidFill>
                <a:latin typeface="Arial"/>
              </a:rPr>
              <a:t>A fork is a private copy of Ethereum on the laptop</a:t>
            </a:r>
            <a:endParaRPr b="0" lang="en-US" sz="1900" spc="-1" strike="noStrike">
              <a:latin typeface="Arial"/>
            </a:endParaRPr>
          </a:p>
          <a:p>
            <a:r>
              <a:rPr b="0" lang="en-US" sz="1900" spc="-1" strike="noStrike">
                <a:solidFill>
                  <a:srgbClr val="222222"/>
                </a:solidFill>
                <a:latin typeface="Arial"/>
              </a:rPr>
              <a:t>• </a:t>
            </a:r>
            <a:r>
              <a:rPr b="0" lang="en-US" sz="1900" spc="-1" strike="noStrike">
                <a:solidFill>
                  <a:srgbClr val="222222"/>
                </a:solidFill>
                <a:latin typeface="Arial"/>
              </a:rPr>
              <a:t>Scripts act as the real key holders: nothing real is touched</a:t>
            </a:r>
            <a:endParaRPr b="0" lang="en-US" sz="1900" spc="-1" strike="noStrike">
              <a:latin typeface="Arial"/>
            </a:endParaRPr>
          </a:p>
          <a:p>
            <a:r>
              <a:rPr b="0" lang="en-US" sz="1900" spc="-1" strike="noStrike">
                <a:solidFill>
                  <a:srgbClr val="222222"/>
                </a:solidFill>
                <a:latin typeface="Arial"/>
              </a:rPr>
              <a:t>• </a:t>
            </a:r>
            <a:r>
              <a:rPr b="0" lang="en-US" sz="1900" spc="-1" strike="noStrike">
                <a:solidFill>
                  <a:srgbClr val="222222"/>
                </a:solidFill>
                <a:latin typeface="Arial"/>
              </a:rPr>
              <a:t>riskdep reads every new block, as it would on mainnet</a:t>
            </a:r>
            <a:endParaRPr b="0" lang="en-US" sz="1900" spc="-1" strike="noStrike">
              <a:latin typeface="Arial"/>
            </a:endParaRPr>
          </a:p>
          <a:p>
            <a:r>
              <a:rPr b="0" lang="en-US" sz="1900" spc="-1" strike="noStrike">
                <a:solidFill>
                  <a:srgbClr val="222222"/>
                </a:solidFill>
                <a:latin typeface="Arial"/>
              </a:rPr>
              <a:t>• </a:t>
            </a:r>
            <a:r>
              <a:rPr b="0" lang="en-US" sz="1900" spc="-1" strike="noStrike">
                <a:solidFill>
                  <a:srgbClr val="222222"/>
                </a:solidFill>
                <a:latin typeface="Arial"/>
              </a:rPr>
              <a:t>Only real risks (warn and critical) reach Telegram</a:t>
            </a:r>
            <a:endParaRPr b="0" lang="en-US" sz="19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The words, in plain language</a:t>
            </a:r>
            <a:endParaRPr b="0" lang="en-US" sz="4400" spc="-1" strike="noStrike">
              <a:latin typeface="Arial"/>
            </a:endParaRPr>
          </a:p>
        </p:txBody>
      </p:sp>
      <p:graphicFrame>
        <p:nvGraphicFramePr>
          <p:cNvPr id="58" name="Table4"/>
          <p:cNvGraphicFramePr/>
          <p:nvPr/>
        </p:nvGraphicFramePr>
        <p:xfrm>
          <a:off x="504000" y="1296000"/>
          <a:ext cx="9071640" cy="3875040"/>
        </p:xfrm>
        <a:graphic>
          <a:graphicData uri="http://schemas.openxmlformats.org/drawingml/2006/table">
            <a:tbl>
              <a:tblPr/>
              <a:tblGrid>
                <a:gridCol w="4536000"/>
                <a:gridCol w="4536000"/>
              </a:tblGrid>
              <a:tr h="432000">
                <a:tc>
                  <a:txBody>
                    <a:bodyPr lIns="90000" rIns="90000" tIns="45000" bIns="45000" anchor="t">
                      <a:noAutofit/>
                    </a:bodyPr>
                    <a:p>
                      <a:r>
                        <a:rPr b="0" lang="en-US" sz="1800" spc="-1" strike="noStrike">
                          <a:latin typeface="Arial"/>
                        </a:rPr>
                        <a:t>Word</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What it means</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Vault</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A pool of deposits lent out by a curator</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Oracle</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The contract that tells the market what collateral is worth</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Bad debt</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A loan worth more than what backs it: someone loses</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Multisig</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A wallet that needs several signatures (here 2 of 3)</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Fork</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A private copy of the blockchain, for rehearsing a crisis</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warn / critical</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Something changed / money is being lost now</a:t>
                      </a:r>
                      <a:endParaRPr b="0" lang="en-US" sz="1800" spc="-1" strike="noStrike">
                        <a:latin typeface="Arial"/>
                      </a:endParaRPr>
                    </a:p>
                  </a:txBody>
                  <a:tcPr anchor="t" marL="90000" marR="90000">
                    <a:lnL>
                      <a:noFill/>
                    </a:lnL>
                    <a:lnR>
                      <a:noFill/>
                    </a:lnR>
                    <a:lnT>
                      <a:noFill/>
                    </a:lnT>
                    <a:lnB>
                      <a:noFill/>
                    </a:lnB>
                    <a:solidFill>
                      <a:srgbClr val="729fcf"/>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Act 1 · The price feed is rewritten</a:t>
            </a:r>
            <a:endParaRPr b="0" lang="en-US" sz="4400" spc="-1" strike="noStrike">
              <a:latin typeface="Arial"/>
            </a:endParaRPr>
          </a:p>
        </p:txBody>
      </p:sp>
      <p:pic>
        <p:nvPicPr>
          <p:cNvPr id="60" name="Image5" descr="act2-chain"/>
          <p:cNvPicPr/>
          <p:nvPr/>
        </p:nvPicPr>
        <p:blipFill>
          <a:blip r:embed="rId1"/>
          <a:stretch/>
        </p:blipFill>
        <p:spPr>
          <a:xfrm>
            <a:off x="900000" y="1224000"/>
            <a:ext cx="8280000" cy="1864800"/>
          </a:xfrm>
          <a:prstGeom prst="rect">
            <a:avLst/>
          </a:prstGeom>
          <a:ln w="0">
            <a:noFill/>
          </a:ln>
        </p:spPr>
      </p:pic>
      <p:sp>
        <p:nvSpPr>
          <p:cNvPr id="61" name="Caption5"/>
          <p:cNvSpPr txBox="1"/>
          <p:nvPr/>
        </p:nvSpPr>
        <p:spPr>
          <a:xfrm>
            <a:off x="576000" y="3196800"/>
            <a:ext cx="9000000" cy="2347200"/>
          </a:xfrm>
          <a:prstGeom prst="rect">
            <a:avLst/>
          </a:prstGeom>
          <a:noFill/>
          <a:ln w="0">
            <a:noFill/>
          </a:ln>
        </p:spPr>
        <p:txBody>
          <a:bodyPr lIns="90000" rIns="90000" tIns="45000" bIns="45000" anchor="t">
            <a:noAutofit/>
          </a:bodyPr>
          <a:p>
            <a:r>
              <a:rPr b="0" lang="en-US" sz="2200" spc="-1" strike="noStrike">
                <a:solidFill>
                  <a:srgbClr val="222222"/>
                </a:solidFill>
                <a:latin typeface="Arial"/>
              </a:rPr>
              <a:t>• </a:t>
            </a:r>
            <a:r>
              <a:rPr b="0" lang="en-US" sz="2200" spc="-1" strike="noStrike">
                <a:solidFill>
                  <a:srgbClr val="222222"/>
                </a:solidFill>
                <a:latin typeface="Arial"/>
              </a:rPr>
              <a:t>RedStone's multisig swaps the code of the strUSD price feed</a:t>
            </a:r>
            <a:endParaRPr b="0" lang="en-US" sz="2200" spc="-1" strike="noStrike">
              <a:latin typeface="Arial"/>
            </a:endParaRPr>
          </a:p>
          <a:p>
            <a:r>
              <a:rPr b="0" lang="en-US" sz="2200" spc="-1" strike="noStrike">
                <a:solidFill>
                  <a:srgbClr val="222222"/>
                </a:solidFill>
                <a:latin typeface="Arial"/>
              </a:rPr>
              <a:t>• </a:t>
            </a:r>
            <a:r>
              <a:rPr b="0" lang="en-US" sz="2200" spc="-1" strike="noStrike">
                <a:solidFill>
                  <a:srgbClr val="222222"/>
                </a:solidFill>
                <a:latin typeface="Arial"/>
              </a:rPr>
              <a:t>The new code says strUSD is worth 0.70 instead of 1.03</a:t>
            </a:r>
            <a:endParaRPr b="0" lang="en-US" sz="2200" spc="-1" strike="noStrike">
              <a:latin typeface="Arial"/>
            </a:endParaRPr>
          </a:p>
          <a:p>
            <a:r>
              <a:rPr b="0" lang="en-US" sz="2200" spc="-1" strike="noStrike">
                <a:solidFill>
                  <a:srgbClr val="222222"/>
                </a:solidFill>
                <a:latin typeface="Arial"/>
              </a:rPr>
              <a:t>• </a:t>
            </a:r>
            <a:r>
              <a:rPr b="0" lang="en-US" sz="2200" spc="-1" strike="noStrike">
                <a:solidFill>
                  <a:srgbClr val="222222"/>
                </a:solidFill>
                <a:latin typeface="Arial"/>
              </a:rPr>
              <a:t>Loans become bigger than their collateral: 1.90M USDC of bad debt</a:t>
            </a:r>
            <a:endParaRPr b="0" lang="en-US" sz="2200" spc="-1" strike="noStrike">
              <a:latin typeface="Arial"/>
            </a:endParaRPr>
          </a:p>
          <a:p>
            <a:r>
              <a:rPr b="0" lang="en-US" sz="2200" spc="-1" strike="noStrike">
                <a:solidFill>
                  <a:srgbClr val="222222"/>
                </a:solidFill>
                <a:latin typeface="Arial"/>
              </a:rPr>
              <a:t>• </a:t>
            </a:r>
            <a:r>
              <a:rPr b="0" lang="en-US" sz="2200" spc="-1" strike="noStrike">
                <a:solidFill>
                  <a:srgbClr val="222222"/>
                </a:solidFill>
                <a:latin typeface="Arial"/>
              </a:rPr>
              <a:t>Until it is written off, whoever stays in the vault carries it</a:t>
            </a:r>
            <a:endParaRPr b="0" lang="en-US" sz="22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Act 1 · What riskdep said</a:t>
            </a:r>
            <a:endParaRPr b="0" lang="en-US" sz="4400" spc="-1" strike="noStrike">
              <a:latin typeface="Arial"/>
            </a:endParaRPr>
          </a:p>
        </p:txBody>
      </p:sp>
      <p:graphicFrame>
        <p:nvGraphicFramePr>
          <p:cNvPr id="63" name="Table6"/>
          <p:cNvGraphicFramePr/>
          <p:nvPr/>
        </p:nvGraphicFramePr>
        <p:xfrm>
          <a:off x="504000" y="1296000"/>
          <a:ext cx="9071640" cy="4045320"/>
        </p:xfrm>
        <a:graphic>
          <a:graphicData uri="http://schemas.openxmlformats.org/drawingml/2006/table">
            <a:tbl>
              <a:tblPr/>
              <a:tblGrid>
                <a:gridCol w="3024000"/>
                <a:gridCol w="3024000"/>
                <a:gridCol w="3024000"/>
              </a:tblGrid>
              <a:tr h="432000">
                <a:tc>
                  <a:txBody>
                    <a:bodyPr lIns="90000" rIns="90000" tIns="45000" bIns="45000" anchor="t">
                      <a:noAutofit/>
                    </a:bodyPr>
                    <a:p>
                      <a:r>
                        <a:rPr b="0" lang="en-US" sz="1800" spc="-1" strike="noStrike">
                          <a:latin typeface="Arial"/>
                        </a:rPr>
                        <a:t>Alert</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Level</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In plain words</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Admin.Upgraded</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critical</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The code behind the price changed</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Oracle moved −32 %</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warn</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The collateral lost a third of its value</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UnrealisedBadDebt</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critical</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1.90M USDC of loans no longer covered</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ExitQueue</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critical</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In a rush to the exit, this depositor gets stuck</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OracleDivergence</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warn</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The oracle is 32 % below the market price</a:t>
                      </a:r>
                      <a:endParaRPr b="0" lang="en-US" sz="1800" spc="-1" strike="noStrike">
                        <a:latin typeface="Arial"/>
                      </a:endParaRPr>
                    </a:p>
                  </a:txBody>
                  <a:tcPr anchor="t" marL="90000" marR="90000">
                    <a:lnL>
                      <a:noFill/>
                    </a:lnL>
                    <a:lnR>
                      <a:noFill/>
                    </a:lnR>
                    <a:lnT>
                      <a:noFill/>
                    </a:lnT>
                    <a:lnB>
                      <a:noFill/>
                    </a:lnB>
                    <a:solidFill>
                      <a:srgbClr val="729fcf"/>
                    </a:solidFill>
                  </a:tcPr>
                </a:tc>
              </a:tr>
              <a:tr h="432000">
                <a:tc>
                  <a:txBody>
                    <a:bodyPr lIns="90000" rIns="90000" tIns="45000" bIns="45000" anchor="t">
                      <a:noAutofit/>
                    </a:bodyPr>
                    <a:p>
                      <a:r>
                        <a:rPr b="0" lang="en-US" sz="1800" spc="-1" strike="noStrike">
                          <a:latin typeface="Arial"/>
                        </a:rPr>
                        <a:t>OracleImpact</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critical</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The loss, and the decision: EXIT</a:t>
                      </a:r>
                      <a:endParaRPr b="0" lang="en-US" sz="1800" spc="-1" strike="noStrike">
                        <a:latin typeface="Arial"/>
                      </a:endParaRPr>
                    </a:p>
                  </a:txBody>
                  <a:tcPr anchor="t" marL="90000" marR="90000">
                    <a:lnL>
                      <a:noFill/>
                    </a:lnL>
                    <a:lnR>
                      <a:noFill/>
                    </a:lnR>
                    <a:lnT>
                      <a:noFill/>
                    </a:lnT>
                    <a:lnB>
                      <a:noFill/>
                    </a:lnB>
                    <a:solidFill>
                      <a:srgbClr val="729fcf"/>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Act 1 · Stay or exit?</a:t>
            </a:r>
            <a:endParaRPr b="0" lang="en-US" sz="4400" spc="-1" strike="noStrike">
              <a:latin typeface="Arial"/>
            </a:endParaRPr>
          </a:p>
        </p:txBody>
      </p:sp>
      <p:sp>
        <p:nvSpPr>
          <p:cNvPr id="65" name="Left7"/>
          <p:cNvSpPr txBox="1"/>
          <p:nvPr/>
        </p:nvSpPr>
        <p:spPr>
          <a:xfrm>
            <a:off x="504000" y="1296000"/>
            <a:ext cx="4356000" cy="4086000"/>
          </a:xfrm>
          <a:prstGeom prst="rect">
            <a:avLst/>
          </a:prstGeom>
          <a:noFill/>
          <a:ln w="0">
            <a:noFill/>
          </a:ln>
        </p:spPr>
        <p:txBody>
          <a:bodyPr lIns="90000" rIns="90000" tIns="45000" bIns="45000" anchor="t">
            <a:noAutofit/>
          </a:bodyPr>
          <a:p>
            <a:r>
              <a:rPr b="1" lang="en-US" sz="2000" spc="-1" strike="noStrike">
                <a:solidFill>
                  <a:srgbClr val="1f4e79"/>
                </a:solidFill>
                <a:latin typeface="Arial"/>
              </a:rPr>
              <a:t>Stay</a:t>
            </a:r>
            <a:endParaRPr b="0" lang="en-US" sz="2000" spc="-1" strike="noStrike">
              <a:latin typeface="Arial"/>
            </a:endParaRPr>
          </a:p>
          <a:p>
            <a:pPr marL="216000" indent="-216000">
              <a:buClr>
                <a:srgbClr val="000000"/>
              </a:buClr>
              <a:buSzPct val="45000"/>
              <a:buFont typeface="Wingdings" charset="2"/>
              <a:buChar char=""/>
            </a:pPr>
            <a:r>
              <a:rPr b="0" lang="en-US" sz="2000" spc="-1" strike="noStrike">
                <a:solidFill>
                  <a:srgbClr val="222222"/>
                </a:solidFill>
                <a:latin typeface="Arial"/>
              </a:rPr>
              <a:t>Loses 454,103 USDC: its share of the bad debt</a:t>
            </a:r>
            <a:endParaRPr b="0" lang="en-US" sz="2000" spc="-1" strike="noStrike">
              <a:latin typeface="Arial"/>
            </a:endParaRPr>
          </a:p>
          <a:p>
            <a:pPr marL="216000" indent="-216000">
              <a:buClr>
                <a:srgbClr val="000000"/>
              </a:buClr>
              <a:buSzPct val="45000"/>
              <a:buFont typeface="Wingdings" charset="2"/>
              <a:buChar char=""/>
            </a:pPr>
            <a:r>
              <a:rPr b="0" lang="en-US" sz="2000" spc="-1" strike="noStrike">
                <a:solidFill>
                  <a:srgbClr val="222222"/>
                </a:solidFill>
                <a:latin typeface="Arial"/>
              </a:rPr>
              <a:t>Waits for the debt to be written off</a:t>
            </a:r>
            <a:endParaRPr b="0" lang="en-US" sz="2000" spc="-1" strike="noStrike">
              <a:latin typeface="Arial"/>
            </a:endParaRPr>
          </a:p>
        </p:txBody>
      </p:sp>
      <p:sp>
        <p:nvSpPr>
          <p:cNvPr id="66" name="Right7"/>
          <p:cNvSpPr txBox="1"/>
          <p:nvPr/>
        </p:nvSpPr>
        <p:spPr>
          <a:xfrm>
            <a:off x="5220000" y="1296000"/>
            <a:ext cx="4356000" cy="4086000"/>
          </a:xfrm>
          <a:prstGeom prst="rect">
            <a:avLst/>
          </a:prstGeom>
          <a:noFill/>
          <a:ln w="0">
            <a:noFill/>
          </a:ln>
        </p:spPr>
        <p:txBody>
          <a:bodyPr lIns="90000" rIns="90000" tIns="45000" bIns="45000" anchor="t">
            <a:noAutofit/>
          </a:bodyPr>
          <a:p>
            <a:r>
              <a:rPr b="1" lang="en-US" sz="2000" spc="-1" strike="noStrike">
                <a:solidFill>
                  <a:srgbClr val="1f4e79"/>
                </a:solidFill>
                <a:latin typeface="Arial"/>
              </a:rPr>
              <a:t>Exit now: riskdep's verdict</a:t>
            </a:r>
            <a:endParaRPr b="0" lang="en-US" sz="2000" spc="-1" strike="noStrike">
              <a:latin typeface="Arial"/>
            </a:endParaRPr>
          </a:p>
          <a:p>
            <a:pPr marL="216000" indent="-216000">
              <a:buClr>
                <a:srgbClr val="000000"/>
              </a:buClr>
              <a:buSzPct val="45000"/>
              <a:buFont typeface="Wingdings" charset="2"/>
              <a:buChar char=""/>
            </a:pPr>
            <a:r>
              <a:rPr b="0" lang="en-US" sz="2000" spc="-1" strike="noStrike">
                <a:solidFill>
                  <a:srgbClr val="222222"/>
                </a:solidFill>
                <a:latin typeface="Arial"/>
              </a:rPr>
              <a:t>2,374,262 USDC can leave at full value</a:t>
            </a:r>
            <a:endParaRPr b="0" lang="en-US" sz="2000" spc="-1" strike="noStrike">
              <a:latin typeface="Arial"/>
            </a:endParaRPr>
          </a:p>
          <a:p>
            <a:pPr marL="216000" indent="-216000">
              <a:buClr>
                <a:srgbClr val="000000"/>
              </a:buClr>
              <a:buSzPct val="45000"/>
              <a:buFont typeface="Wingdings" charset="2"/>
              <a:buChar char=""/>
            </a:pPr>
            <a:r>
              <a:rPr b="0" lang="en-US" sz="2000" spc="-1" strike="noStrike">
                <a:solidFill>
                  <a:srgbClr val="222222"/>
                </a:solidFill>
                <a:latin typeface="Arial"/>
              </a:rPr>
              <a:t>The loss falls to 293,378 USDC</a:t>
            </a:r>
            <a:endParaRPr b="0" lang="en-US" sz="2000" spc="-1" strike="noStrike">
              <a:latin typeface="Arial"/>
            </a:endParaRPr>
          </a:p>
          <a:p>
            <a:pPr marL="216000" indent="-216000">
              <a:buClr>
                <a:srgbClr val="000000"/>
              </a:buClr>
              <a:buSzPct val="45000"/>
              <a:buFont typeface="Wingdings" charset="2"/>
              <a:buChar char=""/>
            </a:pPr>
            <a:r>
              <a:rPr b="0" lang="en-US" sz="2000" spc="-1" strike="noStrike">
                <a:solidFill>
                  <a:srgbClr val="222222"/>
                </a:solidFill>
                <a:latin typeface="Arial"/>
              </a:rPr>
              <a:t>2,620,422 USDC cannot leave yet</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Is this a hack?</a:t>
            </a:r>
            <a:endParaRPr b="0" lang="en-US" sz="4400" spc="-1" strike="noStrike">
              <a:latin typeface="Arial"/>
            </a:endParaRPr>
          </a:p>
        </p:txBody>
      </p:sp>
      <p:graphicFrame>
        <p:nvGraphicFramePr>
          <p:cNvPr id="68" name="Table8"/>
          <p:cNvGraphicFramePr/>
          <p:nvPr/>
        </p:nvGraphicFramePr>
        <p:xfrm>
          <a:off x="504000" y="1296000"/>
          <a:ext cx="9071640" cy="2104200"/>
        </p:xfrm>
        <a:graphic>
          <a:graphicData uri="http://schemas.openxmlformats.org/drawingml/2006/table">
            <a:tbl>
              <a:tblPr/>
              <a:tblGrid>
                <a:gridCol w="3024000"/>
                <a:gridCol w="3024000"/>
                <a:gridCol w="3024000"/>
              </a:tblGrid>
              <a:tr h="450000">
                <a:tc>
                  <a:txBody>
                    <a:bodyPr lIns="90000" rIns="90000" tIns="45000" bIns="45000" anchor="t">
                      <a:noAutofit/>
                    </a:bodyPr>
                    <a:p>
                      <a:r>
                        <a:rPr b="0" lang="en-US" sz="1800" spc="-1" strike="noStrike">
                          <a:latin typeface="Arial"/>
                        </a:rPr>
                        <a:t>Who sends the upgrade</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What it is</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Effect</a:t>
                      </a:r>
                      <a:endParaRPr b="0" lang="en-US" sz="1800" spc="-1" strike="noStrike">
                        <a:latin typeface="Arial"/>
                      </a:endParaRPr>
                    </a:p>
                  </a:txBody>
                  <a:tcPr anchor="t" marL="90000" marR="90000">
                    <a:lnL>
                      <a:noFill/>
                    </a:lnL>
                    <a:lnR>
                      <a:noFill/>
                    </a:lnR>
                    <a:lnT>
                      <a:noFill/>
                    </a:lnT>
                    <a:lnB>
                      <a:noFill/>
                    </a:lnB>
                    <a:solidFill>
                      <a:srgbClr val="729fcf"/>
                    </a:solidFill>
                  </a:tcPr>
                </a:tc>
              </a:tr>
              <a:tr h="450000">
                <a:tc>
                  <a:txBody>
                    <a:bodyPr lIns="90000" rIns="90000" tIns="45000" bIns="45000" anchor="t">
                      <a:noAutofit/>
                    </a:bodyPr>
                    <a:p>
                      <a:r>
                        <a:rPr b="0" lang="en-US" sz="1800" spc="-1" strike="noStrike">
                          <a:latin typeface="Arial"/>
                        </a:rPr>
                        <a:t>Someone with 2 stolen keys</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A hack</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Price set by the attacker</a:t>
                      </a:r>
                      <a:endParaRPr b="0" lang="en-US" sz="1800" spc="-1" strike="noStrike">
                        <a:latin typeface="Arial"/>
                      </a:endParaRPr>
                    </a:p>
                  </a:txBody>
                  <a:tcPr anchor="t" marL="90000" marR="90000">
                    <a:lnL>
                      <a:noFill/>
                    </a:lnL>
                    <a:lnR>
                      <a:noFill/>
                    </a:lnR>
                    <a:lnT>
                      <a:noFill/>
                    </a:lnT>
                    <a:lnB>
                      <a:noFill/>
                    </a:lnB>
                    <a:solidFill>
                      <a:srgbClr val="729fcf"/>
                    </a:solidFill>
                  </a:tcPr>
                </a:tc>
              </a:tr>
              <a:tr h="450000">
                <a:tc>
                  <a:txBody>
                    <a:bodyPr lIns="90000" rIns="90000" tIns="45000" bIns="45000" anchor="t">
                      <a:noAutofit/>
                    </a:bodyPr>
                    <a:p>
                      <a:r>
                        <a:rPr b="0" lang="en-US" sz="1800" spc="-1" strike="noStrike">
                          <a:latin typeface="Arial"/>
                        </a:rPr>
                        <a:t>The real signers, by mistake</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A bad upgrade</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Same damage</a:t>
                      </a:r>
                      <a:endParaRPr b="0" lang="en-US" sz="1800" spc="-1" strike="noStrike">
                        <a:latin typeface="Arial"/>
                      </a:endParaRPr>
                    </a:p>
                  </a:txBody>
                  <a:tcPr anchor="t" marL="90000" marR="90000">
                    <a:lnL>
                      <a:noFill/>
                    </a:lnL>
                    <a:lnR>
                      <a:noFill/>
                    </a:lnR>
                    <a:lnT>
                      <a:noFill/>
                    </a:lnT>
                    <a:lnB>
                      <a:noFill/>
                    </a:lnB>
                    <a:solidFill>
                      <a:srgbClr val="729fcf"/>
                    </a:solidFill>
                  </a:tcPr>
                </a:tc>
              </a:tr>
              <a:tr h="450000">
                <a:tc>
                  <a:txBody>
                    <a:bodyPr lIns="90000" rIns="90000" tIns="45000" bIns="45000" anchor="t">
                      <a:noAutofit/>
                    </a:bodyPr>
                    <a:p>
                      <a:r>
                        <a:rPr b="0" lang="en-US" sz="1800" spc="-1" strike="noStrike">
                          <a:latin typeface="Arial"/>
                        </a:rPr>
                        <a:t>The real signers, announced</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Maintenance</a:t>
                      </a:r>
                      <a:endParaRPr b="0" lang="en-US" sz="1800" spc="-1" strike="noStrike">
                        <a:latin typeface="Arial"/>
                      </a:endParaRPr>
                    </a:p>
                  </a:txBody>
                  <a:tcPr anchor="t" marL="90000" marR="90000">
                    <a:lnL>
                      <a:noFill/>
                    </a:lnL>
                    <a:lnR>
                      <a:noFill/>
                    </a:lnR>
                    <a:lnT>
                      <a:noFill/>
                    </a:lnT>
                    <a:lnB>
                      <a:noFill/>
                    </a:lnB>
                    <a:solidFill>
                      <a:srgbClr val="729fcf"/>
                    </a:solidFill>
                  </a:tcPr>
                </a:tc>
                <a:tc>
                  <a:txBody>
                    <a:bodyPr lIns="90000" rIns="90000" tIns="45000" bIns="45000" anchor="t">
                      <a:noAutofit/>
                    </a:bodyPr>
                    <a:p>
                      <a:r>
                        <a:rPr b="0" lang="en-US" sz="1800" spc="-1" strike="noStrike">
                          <a:latin typeface="Arial"/>
                        </a:rPr>
                        <a:t>Nothing bad</a:t>
                      </a:r>
                      <a:endParaRPr b="0" lang="en-US" sz="1800" spc="-1" strike="noStrike">
                        <a:latin typeface="Arial"/>
                      </a:endParaRPr>
                    </a:p>
                  </a:txBody>
                  <a:tcPr anchor="t" marL="90000" marR="90000">
                    <a:lnL>
                      <a:noFill/>
                    </a:lnL>
                    <a:lnR>
                      <a:noFill/>
                    </a:lnR>
                    <a:lnT>
                      <a:noFill/>
                    </a:lnT>
                    <a:lnB>
                      <a:noFill/>
                    </a:lnB>
                    <a:solidFill>
                      <a:srgbClr val="729fcf"/>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Act 2 · Coins from nowhere</a:t>
            </a:r>
            <a:endParaRPr b="0" lang="en-US" sz="4400" spc="-1" strike="noStrike">
              <a:latin typeface="Arial"/>
            </a:endParaRPr>
          </a:p>
        </p:txBody>
      </p:sp>
      <p:pic>
        <p:nvPicPr>
          <p:cNvPr id="70" name="Image9" descr="act3-mint"/>
          <p:cNvPicPr/>
          <p:nvPr/>
        </p:nvPicPr>
        <p:blipFill>
          <a:blip r:embed="rId1"/>
          <a:stretch/>
        </p:blipFill>
        <p:spPr>
          <a:xfrm>
            <a:off x="1620000" y="1224000"/>
            <a:ext cx="6840000" cy="2624400"/>
          </a:xfrm>
          <a:prstGeom prst="rect">
            <a:avLst/>
          </a:prstGeom>
          <a:ln w="0">
            <a:noFill/>
          </a:ln>
        </p:spPr>
      </p:pic>
      <p:sp>
        <p:nvSpPr>
          <p:cNvPr id="71" name="Caption9"/>
          <p:cNvSpPr txBox="1"/>
          <p:nvPr/>
        </p:nvSpPr>
        <p:spPr>
          <a:xfrm>
            <a:off x="576000" y="3956400"/>
            <a:ext cx="9000000" cy="1587600"/>
          </a:xfrm>
          <a:prstGeom prst="rect">
            <a:avLst/>
          </a:prstGeom>
          <a:noFill/>
          <a:ln w="0">
            <a:noFill/>
          </a:ln>
        </p:spPr>
        <p:txBody>
          <a:bodyPr lIns="90000" rIns="90000" tIns="45000" bIns="45000" anchor="t">
            <a:noAutofit/>
          </a:bodyPr>
          <a:p>
            <a:r>
              <a:rPr b="0" lang="en-US" sz="1900" spc="-1" strike="noStrike">
                <a:solidFill>
                  <a:srgbClr val="222222"/>
                </a:solidFill>
                <a:latin typeface="Arial"/>
              </a:rPr>
              <a:t>• </a:t>
            </a:r>
            <a:r>
              <a:rPr b="0" lang="en-US" sz="1900" spc="-1" strike="noStrike">
                <a:solidFill>
                  <a:srgbClr val="222222"/>
                </a:solidFill>
                <a:latin typeface="Arial"/>
              </a:rPr>
              <a:t>The bridge pool creates 15M PST, +7 % of the supply</a:t>
            </a:r>
            <a:endParaRPr b="0" lang="en-US" sz="1900" spc="-1" strike="noStrike">
              <a:latin typeface="Arial"/>
            </a:endParaRPr>
          </a:p>
          <a:p>
            <a:r>
              <a:rPr b="0" lang="en-US" sz="1900" spc="-1" strike="noStrike">
                <a:solidFill>
                  <a:srgbClr val="222222"/>
                </a:solidFill>
                <a:latin typeface="Arial"/>
              </a:rPr>
              <a:t>• </a:t>
            </a:r>
            <a:r>
              <a:rPr b="0" lang="en-US" sz="1900" spc="-1" strike="noStrike">
                <a:solidFill>
                  <a:srgbClr val="222222"/>
                </a:solidFill>
                <a:latin typeface="Arial"/>
              </a:rPr>
              <a:t>Nothing backs these new coins</a:t>
            </a:r>
            <a:endParaRPr b="0" lang="en-US" sz="1900" spc="-1" strike="noStrike">
              <a:latin typeface="Arial"/>
            </a:endParaRPr>
          </a:p>
          <a:p>
            <a:r>
              <a:rPr b="0" lang="en-US" sz="1900" spc="-1" strike="noStrike">
                <a:solidFill>
                  <a:srgbClr val="222222"/>
                </a:solidFill>
                <a:latin typeface="Arial"/>
              </a:rPr>
              <a:t>• </a:t>
            </a:r>
            <a:r>
              <a:rPr b="0" lang="en-US" sz="1900" spc="-1" strike="noStrike">
                <a:solidFill>
                  <a:srgbClr val="222222"/>
                </a:solidFill>
                <a:latin typeface="Arial"/>
              </a:rPr>
              <a:t>The oracle reads a rate, not the supply: it still says 1.138</a:t>
            </a:r>
            <a:endParaRPr b="0" lang="en-US" sz="1900" spc="-1" strike="noStrike">
              <a:latin typeface="Arial"/>
            </a:endParaRPr>
          </a:p>
          <a:p>
            <a:r>
              <a:rPr b="0" lang="en-US" sz="1900" spc="-1" strike="noStrike">
                <a:solidFill>
                  <a:srgbClr val="222222"/>
                </a:solidFill>
                <a:latin typeface="Arial"/>
              </a:rPr>
              <a:t>• </a:t>
            </a:r>
            <a:r>
              <a:rPr b="0" lang="en-US" sz="1900" spc="-1" strike="noStrike">
                <a:solidFill>
                  <a:srgbClr val="222222"/>
                </a:solidFill>
                <a:latin typeface="Arial"/>
              </a:rPr>
              <a:t>riskdep flags the mint itself, in the same block</a:t>
            </a:r>
            <a:endParaRPr b="0" lang="en-US" sz="19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Reading a Telegram alert</a:t>
            </a:r>
            <a:endParaRPr b="0" lang="en-US" sz="4400" spc="-1" strike="noStrike">
              <a:latin typeface="Arial"/>
            </a:endParaRPr>
          </a:p>
        </p:txBody>
      </p:sp>
      <p:sp>
        <p:nvSpPr>
          <p:cNvPr id="73" name="PlaceHolder 2"/>
          <p:cNvSpPr>
            <a:spLocks noGrp="1"/>
          </p:cNvSpPr>
          <p:nvPr>
            <p:ph/>
          </p:nvPr>
        </p:nvSpPr>
        <p:spPr>
          <a:xfrm>
            <a:off x="504000" y="1326600"/>
            <a:ext cx="9071640" cy="3288240"/>
          </a:xfrm>
          <a:prstGeom prst="rect">
            <a:avLst/>
          </a:prstGeom>
          <a:noFill/>
          <a:ln w="0">
            <a:noFill/>
          </a:ln>
        </p:spPr>
        <p:txBody>
          <a:bodyPr lIns="0" rIns="0" tIns="0" bIns="0" anchor="t">
            <a:normAutofit fontScale="87000"/>
          </a:bodyPr>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One message per incident; red (critical) rings the phone</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First line: the vault and what happened, in plain words</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Then the loss and the decision: EXIT or STAY</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Details folded underneath: tap to open</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A 'What to do' button opens the runbook</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504000" y="226080"/>
            <a:ext cx="9071640" cy="946440"/>
          </a:xfrm>
          <a:prstGeom prst="rect">
            <a:avLst/>
          </a:prstGeom>
          <a:noFill/>
          <a:ln w="0">
            <a:noFill/>
          </a:ln>
        </p:spPr>
        <p:txBody>
          <a:bodyPr lIns="0" rIns="0" tIns="0" bIns="0" anchor="ctr">
            <a:noAutofit/>
          </a:bodyPr>
          <a:p>
            <a:pPr algn="ctr">
              <a:buNone/>
            </a:pPr>
            <a:r>
              <a:rPr b="0" lang="en-US" sz="4400" spc="-1" strike="noStrike">
                <a:solidFill>
                  <a:srgbClr val="1f4e79"/>
                </a:solidFill>
                <a:latin typeface="Arial"/>
              </a:rPr>
              <a:t>What to remember</a:t>
            </a:r>
            <a:endParaRPr b="0" lang="en-US" sz="4400" spc="-1" strike="noStrike">
              <a:latin typeface="Arial"/>
            </a:endParaRPr>
          </a:p>
        </p:txBody>
      </p:sp>
      <p:sp>
        <p:nvSpPr>
          <p:cNvPr id="75" name="PlaceHolder 2"/>
          <p:cNvSpPr>
            <a:spLocks noGrp="1"/>
          </p:cNvSpPr>
          <p:nvPr>
            <p:ph/>
          </p:nvPr>
        </p:nvSpPr>
        <p:spPr>
          <a:xfrm>
            <a:off x="504000" y="1326600"/>
            <a:ext cx="9071640" cy="3288240"/>
          </a:xfrm>
          <a:prstGeom prst="rect">
            <a:avLst/>
          </a:prstGeom>
          <a:noFill/>
          <a:ln w="0">
            <a:noFill/>
          </a:ln>
        </p:spPr>
        <p:txBody>
          <a:bodyPr lIns="0" rIns="0" tIns="0" bIns="0" anchor="t">
            <a:normAutofit fontScale="83000"/>
          </a:bodyPr>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A position depends on people and code you never see</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riskdep names them, watches them and prices the damage</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Each alert says what happened, what it costs and what to do</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It cannot tell a hack from an upgrade: it flags both</a:t>
            </a:r>
            <a:endParaRPr b="0" lang="en-US" sz="3200" spc="-1" strike="noStrike">
              <a:latin typeface="Arial"/>
            </a:endParaRPr>
          </a:p>
          <a:p>
            <a:pPr marL="432000" indent="-324000">
              <a:spcBef>
                <a:spcPts val="1417"/>
              </a:spcBef>
              <a:buClr>
                <a:srgbClr val="000000"/>
              </a:buClr>
              <a:buSzPct val="45000"/>
              <a:buFont typeface="Wingdings" charset="2"/>
              <a:buChar char=""/>
            </a:pPr>
            <a:r>
              <a:rPr b="0" lang="en-US" sz="3200" spc="-1" strike="noStrike">
                <a:solidFill>
                  <a:srgbClr val="222222"/>
                </a:solidFill>
                <a:latin typeface="Arial"/>
              </a:rPr>
              <a:t>Limits: a simulated crisis, prices read block by block</a:t>
            </a:r>
            <a:endParaRPr b="0" lang="en-US" sz="3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LibreOffice/7.3.7.2$Linux_X86_64 LibreOffice_project/30$Build-2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2026-10-11T05:49:48Z</dcterms:created>
  <dc:creator/>
  <dc:description/>
  <dc:language>en-US</dc:language>
  <cp:lastModifiedBy/>
  <dcterms:modified xsi:type="dcterms:W3CDTF">2026-10-11T05:49:50Z</dcterms:modified>
  <cp:revision>1</cp:revision>
  <dc:subject/>
  <dc:title/>
</cp:coreProperties>
</file>